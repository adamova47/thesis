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Serithai Bold" panose="020B0604020202020204" charset="-34"/>
      <p:regular r:id="rId17"/>
    </p:embeddedFont>
    <p:embeddedFont>
      <p:font typeface="เอฟซี ซับเจค คอนเดนซ์​" charset="-3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84" y="3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785470" y="3319918"/>
            <a:ext cx="10921130" cy="2933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1"/>
              </a:lnSpc>
            </a:pPr>
            <a:r>
              <a:rPr lang="en-US" sz="7501" b="1" dirty="0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REKURENTNÉ </a:t>
            </a:r>
            <a:endParaRPr lang="sk-SK" sz="7501" b="1" dirty="0">
              <a:solidFill>
                <a:srgbClr val="414964"/>
              </a:solidFill>
              <a:latin typeface="Serithai Bold"/>
              <a:ea typeface="Serithai Bold"/>
              <a:cs typeface="Serithai Bold"/>
              <a:sym typeface="Serithai Bold"/>
            </a:endParaRPr>
          </a:p>
          <a:p>
            <a:pPr algn="ctr">
              <a:lnSpc>
                <a:spcPts val="7501"/>
              </a:lnSpc>
            </a:pPr>
            <a:r>
              <a:rPr lang="en-US" sz="7501" b="1" dirty="0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SAMO-ORGANIZUJÚCE SA SIETE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93754" y="6563678"/>
            <a:ext cx="10500491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Bc. Ema Adamová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RNDr. Kristína Malinovská, PhD.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2118787"/>
            <a:ext cx="5928110" cy="445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FMFI, Univerzita Komenského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41131" y="1714500"/>
            <a:ext cx="8856732" cy="698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Úvod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</a:t>
            </a:r>
          </a:p>
          <a:p>
            <a:pPr marL="597936" lvl="1" indent="-298968" algn="l">
              <a:lnSpc>
                <a:spcPts val="3877"/>
              </a:lnSpc>
              <a:buFont typeface="Arial"/>
              <a:buChar char="•"/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Implementácia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a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analýza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SOM,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RecSOM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a MSOM</a:t>
            </a:r>
          </a:p>
          <a:p>
            <a:pPr marL="597936" lvl="1" indent="-298968" algn="l">
              <a:lnSpc>
                <a:spcPts val="3877"/>
              </a:lnSpc>
              <a:buFont typeface="Arial"/>
              <a:buChar char="•"/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Zameranie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spracovanie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časových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dát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a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sekvenčné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učenie</a:t>
            </a:r>
            <a:endParaRPr lang="en-US" sz="2769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marL="597936" lvl="1" indent="-298968" algn="l">
              <a:lnSpc>
                <a:spcPts val="3877"/>
              </a:lnSpc>
              <a:buFont typeface="Arial"/>
              <a:buChar char="•"/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Riešenie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problému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katastrofického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zabúdania</a:t>
            </a:r>
            <a:endParaRPr lang="en-US" sz="2769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algn="l">
              <a:lnSpc>
                <a:spcPts val="3877"/>
              </a:lnSpc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Ciele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</a:t>
            </a:r>
          </a:p>
          <a:p>
            <a:pPr marL="597936" lvl="1" indent="-298968" algn="l">
              <a:lnSpc>
                <a:spcPts val="3877"/>
              </a:lnSpc>
              <a:buFont typeface="Arial"/>
              <a:buChar char="•"/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Implementovať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RecSOM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a MSOM v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Pythone</a:t>
            </a:r>
            <a:endParaRPr lang="en-US" sz="2769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marL="597936" lvl="1" indent="-298968" algn="l">
              <a:lnSpc>
                <a:spcPts val="3877"/>
              </a:lnSpc>
              <a:buFont typeface="Arial"/>
              <a:buChar char="•"/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Otestovať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účinnosť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modelov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sekvenčných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dátach</a:t>
            </a:r>
            <a:endParaRPr lang="en-US" sz="2769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marL="597936" lvl="1" indent="-298968" algn="l">
              <a:lnSpc>
                <a:spcPts val="3877"/>
              </a:lnSpc>
              <a:buFont typeface="Arial"/>
              <a:buChar char="•"/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Porovnať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ich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výkon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v unsupervised learning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úlohách</a:t>
            </a:r>
            <a:endParaRPr lang="en-US" sz="2769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algn="l">
              <a:lnSpc>
                <a:spcPts val="3877"/>
              </a:lnSpc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Význam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</a:t>
            </a:r>
          </a:p>
          <a:p>
            <a:pPr marL="597936" lvl="1" indent="-298968" algn="l">
              <a:lnSpc>
                <a:spcPts val="3877"/>
              </a:lnSpc>
              <a:buFont typeface="Arial"/>
              <a:buChar char="•"/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SOMky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učia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neoznačených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dátach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(unsupervised learning)</a:t>
            </a:r>
          </a:p>
          <a:p>
            <a:pPr marL="597936" lvl="1" indent="-298968" algn="l">
              <a:lnSpc>
                <a:spcPts val="3877"/>
              </a:lnSpc>
              <a:buFont typeface="Arial"/>
              <a:buChar char="•"/>
            </a:pP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Aplikácie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robotický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pohyb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,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modelovania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časových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radov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ako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sekvencií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pohybových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instrukcií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pre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robota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a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klastrovanie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na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rôzne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typy</a:t>
            </a:r>
            <a:r>
              <a:rPr lang="en-US" sz="276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76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pohybov</a:t>
            </a:r>
            <a:endParaRPr lang="en-US" sz="2769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0626112" y="2347726"/>
            <a:ext cx="5290019" cy="5938378"/>
          </a:xfrm>
          <a:custGeom>
            <a:avLst/>
            <a:gdLst/>
            <a:ahLst/>
            <a:cxnLst/>
            <a:rect l="l" t="t" r="r" b="b"/>
            <a:pathLst>
              <a:path w="5290019" h="5938378">
                <a:moveTo>
                  <a:pt x="0" y="0"/>
                </a:moveTo>
                <a:lnTo>
                  <a:pt x="5290019" y="0"/>
                </a:lnTo>
                <a:lnTo>
                  <a:pt x="5290019" y="5938378"/>
                </a:lnTo>
                <a:lnTo>
                  <a:pt x="0" y="59383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84545" y="1714420"/>
            <a:ext cx="12118909" cy="739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500" b="1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MODELY A ICH VÝZNAM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38494" y="2744089"/>
            <a:ext cx="13705886" cy="5765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Kľúčové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články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</a:t>
            </a:r>
          </a:p>
          <a:p>
            <a:pPr marL="635264" lvl="1" indent="-317632" algn="l">
              <a:lnSpc>
                <a:spcPts val="4119"/>
              </a:lnSpc>
              <a:buFont typeface="Arial"/>
              <a:buChar char="•"/>
            </a:pP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[1] Kohonen, T., 1990 –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Základy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Self-Organizing Maps (SOM)</a:t>
            </a:r>
          </a:p>
          <a:p>
            <a:pPr marL="635264" lvl="1" indent="-317632" algn="l">
              <a:lnSpc>
                <a:spcPts val="4119"/>
              </a:lnSpc>
              <a:buFont typeface="Arial"/>
              <a:buChar char="•"/>
            </a:pP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[2] Strickert &amp; Hammer, 2005 – Merge SOM pre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spracovanie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časových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dát</a:t>
            </a:r>
            <a:endParaRPr lang="en-US" sz="2942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algn="l">
              <a:lnSpc>
                <a:spcPts val="4119"/>
              </a:lnSpc>
            </a:pPr>
            <a:endParaRPr lang="en-US" sz="2942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algn="l">
              <a:lnSpc>
                <a:spcPts val="4119"/>
              </a:lnSpc>
            </a:pP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NeuroNet</a:t>
            </a:r>
            <a:r>
              <a:rPr lang="sk-SK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(C++): Matej </a:t>
            </a:r>
            <a:r>
              <a:rPr lang="sk-SK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Pecháč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–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kód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v C++, pre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pochopinie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kontextových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mechanizmov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v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RecSOM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a MSOM</a:t>
            </a:r>
          </a:p>
          <a:p>
            <a:pPr algn="l">
              <a:lnSpc>
                <a:spcPts val="4119"/>
              </a:lnSpc>
            </a:pPr>
            <a:endParaRPr lang="en-US" sz="2942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algn="l">
              <a:lnSpc>
                <a:spcPts val="4119"/>
              </a:lnSpc>
            </a:pP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Analýza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modelov</a:t>
            </a: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</a:t>
            </a:r>
          </a:p>
          <a:p>
            <a:pPr marL="635264" lvl="1" indent="-317632" algn="l">
              <a:lnSpc>
                <a:spcPts val="4119"/>
              </a:lnSpc>
              <a:buFont typeface="Arial"/>
              <a:buChar char="•"/>
            </a:pP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SOM</a:t>
            </a:r>
          </a:p>
          <a:p>
            <a:pPr marL="635264" lvl="1" indent="-317632" algn="l">
              <a:lnSpc>
                <a:spcPts val="4119"/>
              </a:lnSpc>
              <a:buFont typeface="Arial"/>
              <a:buChar char="•"/>
            </a:pPr>
            <a:r>
              <a:rPr lang="en-US" sz="2942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MSOM</a:t>
            </a:r>
          </a:p>
          <a:p>
            <a:pPr marL="635264" lvl="1" indent="-317632" algn="l">
              <a:lnSpc>
                <a:spcPts val="4119"/>
              </a:lnSpc>
              <a:buFont typeface="Arial"/>
              <a:buChar char="•"/>
            </a:pPr>
            <a:r>
              <a:rPr lang="en-US" sz="2942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RecSOM</a:t>
            </a:r>
            <a:endParaRPr lang="en-US" sz="2942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52905" y="1785024"/>
            <a:ext cx="6631495" cy="6716953"/>
          </a:xfrm>
          <a:custGeom>
            <a:avLst/>
            <a:gdLst/>
            <a:ahLst/>
            <a:cxnLst/>
            <a:rect l="l" t="t" r="r" b="b"/>
            <a:pathLst>
              <a:path w="6631495" h="6716953">
                <a:moveTo>
                  <a:pt x="0" y="0"/>
                </a:moveTo>
                <a:lnTo>
                  <a:pt x="6631495" y="0"/>
                </a:lnTo>
                <a:lnTo>
                  <a:pt x="6631495" y="6716952"/>
                </a:lnTo>
                <a:lnTo>
                  <a:pt x="0" y="67169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617704" y="1845100"/>
            <a:ext cx="7217270" cy="864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 b="1" dirty="0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SELF-ORGANIZING MAP (SOM):</a:t>
            </a:r>
          </a:p>
          <a:p>
            <a:pPr algn="l">
              <a:lnSpc>
                <a:spcPts val="3300"/>
              </a:lnSpc>
            </a:pPr>
            <a:endParaRPr lang="en-US" sz="3300" b="1" dirty="0">
              <a:solidFill>
                <a:srgbClr val="414964"/>
              </a:solidFill>
              <a:latin typeface="Serithai Bold"/>
              <a:ea typeface="Serithai Bold"/>
              <a:cs typeface="Serithai Bold"/>
              <a:sym typeface="Serithai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617704" y="2387560"/>
            <a:ext cx="7217270" cy="624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Architektúra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:</a:t>
            </a:r>
          </a:p>
          <a:p>
            <a:pPr marL="755646" lvl="1" indent="-377823" algn="l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SOM je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organizovaná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ako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2D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mriežka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neurónov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.</a:t>
            </a:r>
          </a:p>
          <a:p>
            <a:pPr marL="755646" lvl="1" indent="-377823" algn="l">
              <a:lnSpc>
                <a:spcPts val="4899"/>
              </a:lnSpc>
              <a:buFont typeface="Arial"/>
              <a:buChar char="•"/>
            </a:pP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Každý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neurón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je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prepojený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s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vstupnými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dátami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pomocou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váhových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vektorov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.</a:t>
            </a:r>
          </a:p>
          <a:p>
            <a:pPr marL="755646" lvl="1" indent="-377823" algn="l">
              <a:lnSpc>
                <a:spcPts val="4899"/>
              </a:lnSpc>
              <a:buFont typeface="Arial"/>
              <a:buChar char="•"/>
            </a:pP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Váhové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vektory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počas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tréningu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prispôsobujú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,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čím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zachovávajú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topologickú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štruktúru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dát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.</a:t>
            </a:r>
          </a:p>
          <a:p>
            <a:pPr algn="l">
              <a:lnSpc>
                <a:spcPts val="4899"/>
              </a:lnSpc>
            </a:pPr>
            <a:endParaRPr lang="en-US" sz="3499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580093" y="433135"/>
            <a:ext cx="17127815" cy="9420730"/>
            <a:chOff x="0" y="0"/>
            <a:chExt cx="4511029" cy="24811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1029" cy="2481180"/>
            </a:xfrm>
            <a:custGeom>
              <a:avLst/>
              <a:gdLst/>
              <a:ahLst/>
              <a:cxnLst/>
              <a:rect l="l" t="t" r="r" b="b"/>
              <a:pathLst>
                <a:path w="4511029" h="2481180">
                  <a:moveTo>
                    <a:pt x="23052" y="0"/>
                  </a:moveTo>
                  <a:lnTo>
                    <a:pt x="4487977" y="0"/>
                  </a:lnTo>
                  <a:cubicBezTo>
                    <a:pt x="4500708" y="0"/>
                    <a:pt x="4511029" y="10321"/>
                    <a:pt x="4511029" y="23052"/>
                  </a:cubicBezTo>
                  <a:lnTo>
                    <a:pt x="4511029" y="2458127"/>
                  </a:lnTo>
                  <a:cubicBezTo>
                    <a:pt x="4511029" y="2470859"/>
                    <a:pt x="4500708" y="2481180"/>
                    <a:pt x="4487977" y="2481180"/>
                  </a:cubicBezTo>
                  <a:lnTo>
                    <a:pt x="23052" y="2481180"/>
                  </a:lnTo>
                  <a:cubicBezTo>
                    <a:pt x="10321" y="2481180"/>
                    <a:pt x="0" y="2470859"/>
                    <a:pt x="0" y="2458127"/>
                  </a:cubicBezTo>
                  <a:lnTo>
                    <a:pt x="0" y="23052"/>
                  </a:lnTo>
                  <a:cubicBezTo>
                    <a:pt x="0" y="10321"/>
                    <a:pt x="10321" y="0"/>
                    <a:pt x="230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11029" cy="2519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/>
              <p:cNvSpPr txBox="1"/>
              <p:nvPr/>
            </p:nvSpPr>
            <p:spPr>
              <a:xfrm>
                <a:off x="1267418" y="1503173"/>
                <a:ext cx="8984982" cy="853118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4200"/>
                  </a:lnSpc>
                </a:pP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Ako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funguje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:</a:t>
                </a: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Každý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neurón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má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váhový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vektor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s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rovnakou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dimenziou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ako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vstupné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dáta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.</a:t>
                </a: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Identifikácia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BMU (Best Matching Unit) -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neurón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s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váhovým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vektorom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najbližším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k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vstupnému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vektoru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.</a:t>
                </a:r>
                <a:endParaRPr lang="sk-SK" sz="30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>
                          <a:latin typeface="Cambria Math" panose="02040503050406030204" pitchFamily="18" charset="0"/>
                        </a:rPr>
                        <m:t>𝐵𝑀𝑈</m:t>
                      </m:r>
                      <m:r>
                        <a:rPr lang="en-US" sz="30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b="0" i="1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sk-SK" sz="3000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  <m:lim>
                              <m:r>
                                <a:rPr lang="en-US" sz="3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000" b="0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30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BMU a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jeho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susedia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sa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aktualizujú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, aby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sa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priblížili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k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vstupu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.</a:t>
                </a: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Susedstvo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sa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počas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tréningu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postupne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zmenšuje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.</a:t>
                </a:r>
                <a:endParaRPr lang="sk-SK" sz="30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3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sz="3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3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3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0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algn="l">
                  <a:lnSpc>
                    <a:spcPts val="4200"/>
                  </a:lnSpc>
                </a:pP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Využitie:</a:t>
                </a: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Zhlukovanie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a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vizualizácia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dát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s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vysokou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dimenziou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.</a:t>
                </a: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Zachovanie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topologických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vzťahov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bez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označených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30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vzoriek</a:t>
                </a:r>
                <a:r>
                  <a:rPr lang="en-US" sz="30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.</a:t>
                </a:r>
              </a:p>
              <a:p>
                <a:pPr algn="l">
                  <a:lnSpc>
                    <a:spcPts val="3877"/>
                  </a:lnSpc>
                </a:pPr>
                <a:endParaRPr lang="en-US" sz="30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algn="l">
                  <a:lnSpc>
                    <a:spcPts val="3877"/>
                  </a:lnSpc>
                </a:pPr>
                <a:endParaRPr lang="en-US" sz="30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</p:txBody>
          </p:sp>
        </mc:Choice>
        <mc:Fallback xmlns="">
          <p:sp>
            <p:nvSpPr>
              <p:cNvPr id="8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418" y="1503173"/>
                <a:ext cx="8984982" cy="8531182"/>
              </a:xfrm>
              <a:prstGeom prst="rect">
                <a:avLst/>
              </a:prstGeom>
              <a:blipFill>
                <a:blip r:embed="rId7"/>
                <a:stretch>
                  <a:fillRect l="-2646" t="-858" r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9"/>
          <p:cNvSpPr/>
          <p:nvPr/>
        </p:nvSpPr>
        <p:spPr>
          <a:xfrm>
            <a:off x="12497888" y="695478"/>
            <a:ext cx="4552116" cy="4590584"/>
          </a:xfrm>
          <a:custGeom>
            <a:avLst/>
            <a:gdLst/>
            <a:ahLst/>
            <a:cxnLst/>
            <a:rect l="l" t="t" r="r" b="b"/>
            <a:pathLst>
              <a:path w="4552116" h="4590584">
                <a:moveTo>
                  <a:pt x="0" y="0"/>
                </a:moveTo>
                <a:lnTo>
                  <a:pt x="4552115" y="0"/>
                </a:lnTo>
                <a:lnTo>
                  <a:pt x="4552115" y="4590584"/>
                </a:lnTo>
                <a:lnTo>
                  <a:pt x="0" y="45905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52400" y="5438388"/>
            <a:ext cx="4897217" cy="4088938"/>
          </a:xfrm>
          <a:custGeom>
            <a:avLst/>
            <a:gdLst/>
            <a:ahLst/>
            <a:cxnLst/>
            <a:rect l="l" t="t" r="r" b="b"/>
            <a:pathLst>
              <a:path w="4897217" h="4088938">
                <a:moveTo>
                  <a:pt x="0" y="0"/>
                </a:moveTo>
                <a:lnTo>
                  <a:pt x="4897217" y="0"/>
                </a:lnTo>
                <a:lnTo>
                  <a:pt x="4897217" y="4088938"/>
                </a:lnTo>
                <a:lnTo>
                  <a:pt x="0" y="40889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54169" y="1922447"/>
            <a:ext cx="8779661" cy="864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300" b="1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RECURRENT SELF-ORGANIZING MAP  (RSOM):</a:t>
            </a:r>
          </a:p>
          <a:p>
            <a:pPr algn="l">
              <a:lnSpc>
                <a:spcPts val="3300"/>
              </a:lnSpc>
            </a:pPr>
            <a:endParaRPr lang="en-US" sz="3300" b="1">
              <a:solidFill>
                <a:srgbClr val="414964"/>
              </a:solidFill>
              <a:latin typeface="Serithai Bold"/>
              <a:ea typeface="Serithai Bold"/>
              <a:cs typeface="Serithai Bold"/>
              <a:sym typeface="Serithai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41521" y="2878137"/>
            <a:ext cx="13404957" cy="5006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Rozšírenie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SOM:</a:t>
            </a:r>
          </a:p>
          <a:p>
            <a:pPr marL="755646" lvl="1" indent="-377823" algn="l">
              <a:lnSpc>
                <a:spcPts val="4899"/>
              </a:lnSpc>
              <a:buFont typeface="Arial"/>
              <a:buChar char="•"/>
            </a:pP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RecSOM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pridáva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kontextové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váhy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​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ku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každému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neurónu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.</a:t>
            </a:r>
          </a:p>
          <a:p>
            <a:pPr marL="755646" lvl="1" indent="-377823" algn="l">
              <a:lnSpc>
                <a:spcPts val="4899"/>
              </a:lnSpc>
              <a:buFont typeface="Arial"/>
              <a:buChar char="•"/>
            </a:pP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Kontextové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váhy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uchovávajú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informáciu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o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vzore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predchádzajúcich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aktivácií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,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teda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o tom,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ako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neurón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aktivoval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v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predchádzajúcom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kroku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základe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kontextového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vektora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.</a:t>
            </a:r>
          </a:p>
          <a:p>
            <a:pPr marL="755646" lvl="1" indent="-377823" algn="l">
              <a:lnSpc>
                <a:spcPts val="4899"/>
              </a:lnSpc>
              <a:buFont typeface="Arial"/>
              <a:buChar char="•"/>
            </a:pP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Kontextová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vrstva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má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rovnakú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veľkosť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ako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sk-SK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mapa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sk-SK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neurónov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.</a:t>
            </a:r>
          </a:p>
          <a:p>
            <a:pPr marL="755646" lvl="1" indent="-377823" algn="l">
              <a:lnSpc>
                <a:spcPts val="4899"/>
              </a:lnSpc>
              <a:buFont typeface="Arial"/>
              <a:buChar char="•"/>
            </a:pP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Zachytáva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kompletný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obraz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aktivity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z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predchádzajúceho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3499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kroku</a:t>
            </a:r>
            <a:r>
              <a:rPr lang="en-US" sz="3499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.</a:t>
            </a:r>
          </a:p>
          <a:p>
            <a:pPr algn="l">
              <a:lnSpc>
                <a:spcPts val="4899"/>
              </a:lnSpc>
            </a:pPr>
            <a:endParaRPr lang="en-US" sz="3499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52942" y="1885155"/>
            <a:ext cx="7559984" cy="5119151"/>
          </a:xfrm>
          <a:custGeom>
            <a:avLst/>
            <a:gdLst/>
            <a:ahLst/>
            <a:cxnLst/>
            <a:rect l="l" t="t" r="r" b="b"/>
            <a:pathLst>
              <a:path w="7559984" h="5119151">
                <a:moveTo>
                  <a:pt x="0" y="0"/>
                </a:moveTo>
                <a:lnTo>
                  <a:pt x="7559984" y="0"/>
                </a:lnTo>
                <a:lnTo>
                  <a:pt x="7559984" y="5119152"/>
                </a:lnTo>
                <a:lnTo>
                  <a:pt x="0" y="51191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9"/>
              <p:cNvSpPr txBox="1"/>
              <p:nvPr/>
            </p:nvSpPr>
            <p:spPr>
              <a:xfrm>
                <a:off x="8610601" y="1391586"/>
                <a:ext cx="8058702" cy="707501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4200"/>
                  </a:lnSpc>
                </a:pP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Ako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funguje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:</a:t>
                </a:r>
              </a:p>
              <a:p>
                <a:pPr marL="647700" lvl="1" indent="-323850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Nájdenie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víťaza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: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porovnáme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vstupné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váhy</a:t>
                </a:r>
                <a:r>
                  <a:rPr lang="sk-SK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sk-SK" sz="24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sk-SK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​</m:t>
                        </m:r>
                      </m:e>
                      <m:sup>
                        <m:r>
                          <a:rPr lang="sk-SK" sz="2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𝑖𝑛𝑝</m:t>
                        </m:r>
                      </m:sup>
                    </m:sSup>
                    <m:r>
                      <a:rPr lang="sk-SK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sk-SK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sk-SK" sz="2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s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aktuálnym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vstupom</a:t>
                </a:r>
                <a:r>
                  <a:rPr lang="sk-SK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14:m>
                  <m:oMath xmlns:m="http://schemas.openxmlformats.org/officeDocument/2006/math">
                    <m:r>
                      <a:rPr lang="sk-SK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sk-SK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sk-SK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sk-SK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;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kontextové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váhy</a:t>
                </a:r>
                <a:r>
                  <a:rPr lang="sk-SK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sk-SK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sk-SK" sz="2400" i="1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sk-SK" sz="2400" i="1">
                            <a:latin typeface="Cambria Math" panose="02040503050406030204" pitchFamily="18" charset="0"/>
                          </a:rPr>
                          <m:t>𝑐𝑡𝑥</m:t>
                        </m:r>
                      </m:sup>
                    </m:sSup>
                    <m:r>
                      <a:rPr lang="sk-SK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sk-SK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sk-SK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s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kontextom</a:t>
                </a:r>
                <a:r>
                  <a:rPr lang="sk-SK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14:m>
                  <m:oMath xmlns:m="http://schemas.openxmlformats.org/officeDocument/2006/math">
                    <m:r>
                      <a:rPr lang="sk-SK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sk-SK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sk-SK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sk-SK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k-SK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∥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)−</m:t>
                          </m:r>
                          <m:sSup>
                            <m:sSup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sk-SK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​)</m:t>
                              </m:r>
                            </m:e>
                            <m:sup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𝑖𝑛𝑝</m:t>
                              </m:r>
                            </m:sup>
                          </m:s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)∥</m:t>
                          </m:r>
                        </m:e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∥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)−</m:t>
                          </m:r>
                          <m:sSup>
                            <m:sSup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sk-SK" sz="24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​)</m:t>
                              </m:r>
                            </m:e>
                            <m:sup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𝑐𝑡𝑥</m:t>
                              </m:r>
                            </m:sup>
                          </m:s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)∥</m:t>
                          </m:r>
                        </m:e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Cambria Math" panose="02040503050406030204" pitchFamily="18" charset="0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Aktualizácia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: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vstupné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váhy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smerom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k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aktuálnemu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vstupu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;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kontextové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smerom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ku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kontextu</a:t>
                </a:r>
                <a:endParaRPr lang="sk-SK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𝛥</m:t>
                      </m:r>
                      <m:sSubSup>
                        <m:sSub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𝑖𝑛𝑝</m:t>
                          </m:r>
                        </m:sup>
                      </m:sSub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​⋅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𝐵𝑀𝑈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)⋅(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)−</m:t>
                      </m:r>
                      <m:sSubSup>
                        <m:sSub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𝑖𝑛𝑝</m:t>
                          </m:r>
                        </m:sup>
                      </m:sSub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n-US" sz="2400" kern="100" dirty="0">
                  <a:effectLst/>
                  <a:latin typeface="เอฟซี ซับเจค คอนเดนซ์​" charset="-34"/>
                  <a:ea typeface="Aptos" panose="020B0004020202020204" pitchFamily="34" charset="0"/>
                  <a:cs typeface="เอฟซี ซับเจค คอนเดนซ์​" charset="-34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𝛥</m:t>
                      </m:r>
                      <m:sSubSup>
                        <m:sSub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𝑐𝑡𝑥</m:t>
                          </m:r>
                        </m:sup>
                      </m:sSub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​⋅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𝐵𝑀𝑈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)⋅(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)−</m:t>
                      </m:r>
                      <m:sSubSup>
                        <m:sSub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𝑐𝑡𝑥</m:t>
                          </m:r>
                        </m:sup>
                      </m:sSub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Obnova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pamäte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- o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každom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kroku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sa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celková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odozva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mapy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komprimuje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do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nového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kontextového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snapshotu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:</a:t>
                </a:r>
                <a:endParaRPr lang="sk-SK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+1)=(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𝑒𝑥𝑝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(−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))</m:t>
                      </m:r>
                      <m:r>
                        <a:rPr lang="sk-SK" sz="24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sk-SK" sz="2400" b="1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𝑒𝑥𝑝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(−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∣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∣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)))</m:t>
                      </m:r>
                    </m:oMath>
                  </m:oMathPara>
                </a14:m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algn="l">
                  <a:lnSpc>
                    <a:spcPts val="4200"/>
                  </a:lnSpc>
                </a:pPr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algn="l">
                  <a:lnSpc>
                    <a:spcPts val="5424"/>
                  </a:lnSpc>
                </a:pPr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</p:txBody>
          </p:sp>
        </mc:Choice>
        <mc:Fallback xmlns="">
          <p:sp>
            <p:nvSpPr>
              <p:cNvPr id="9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1" y="1391586"/>
                <a:ext cx="8058702" cy="7075014"/>
              </a:xfrm>
              <a:prstGeom prst="rect">
                <a:avLst/>
              </a:prstGeom>
              <a:blipFill>
                <a:blip r:embed="rId8"/>
                <a:stretch>
                  <a:fillRect l="-2347" r="-1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10"/>
          <p:cNvSpPr txBox="1"/>
          <p:nvPr/>
        </p:nvSpPr>
        <p:spPr>
          <a:xfrm>
            <a:off x="1352942" y="7324079"/>
            <a:ext cx="15333385" cy="1429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Využitie:</a:t>
            </a:r>
          </a:p>
          <a:p>
            <a:pPr marL="647711" lvl="1" indent="-323856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RecSOM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je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užitočný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pre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sekvenčné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učenie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a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analýzu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časových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radov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,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napr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.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učenie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trajektórií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robota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alebo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rozpoznávanie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gest.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400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611031"/>
            <a:ext cx="16230600" cy="9064938"/>
            <a:chOff x="0" y="0"/>
            <a:chExt cx="4274726" cy="23874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387473"/>
            </a:xfrm>
            <a:custGeom>
              <a:avLst/>
              <a:gdLst/>
              <a:ahLst/>
              <a:cxnLst/>
              <a:rect l="l" t="t" r="r" b="b"/>
              <a:pathLst>
                <a:path w="4274726" h="23874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363146"/>
                  </a:lnTo>
                  <a:cubicBezTo>
                    <a:pt x="4274726" y="2376582"/>
                    <a:pt x="4263834" y="2387473"/>
                    <a:pt x="4250399" y="2387473"/>
                  </a:cubicBezTo>
                  <a:lnTo>
                    <a:pt x="24327" y="2387473"/>
                  </a:lnTo>
                  <a:cubicBezTo>
                    <a:pt x="10891" y="2387473"/>
                    <a:pt x="0" y="2376582"/>
                    <a:pt x="0" y="23631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425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349385" y="4345877"/>
            <a:ext cx="6926385" cy="4383195"/>
          </a:xfrm>
          <a:custGeom>
            <a:avLst/>
            <a:gdLst/>
            <a:ahLst/>
            <a:cxnLst/>
            <a:rect l="l" t="t" r="r" b="b"/>
            <a:pathLst>
              <a:path w="6926385" h="4383195">
                <a:moveTo>
                  <a:pt x="0" y="0"/>
                </a:moveTo>
                <a:lnTo>
                  <a:pt x="6926385" y="0"/>
                </a:lnTo>
                <a:lnTo>
                  <a:pt x="6926385" y="4383194"/>
                </a:lnTo>
                <a:lnTo>
                  <a:pt x="0" y="43831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992629" y="1553021"/>
            <a:ext cx="8508918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MERGE SELF-ORGANIZING MAP (MSOM)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92629" y="2134347"/>
            <a:ext cx="7704629" cy="528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Rozšírenie SOM: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MSOM je prístup k modelovaniu časových závislostí, ktorý si uchováva iba kontext posledného víťazného neurónu.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Každý neurón má dva váhové vektory:</a:t>
            </a:r>
          </a:p>
          <a:p>
            <a:pPr marL="1295397" lvl="2" indent="-431799" algn="l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Vstupný vektor</a:t>
            </a:r>
          </a:p>
          <a:p>
            <a:pPr marL="1295397" lvl="2" indent="-431799" algn="l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Kontextový vektor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Narozdiel od RSOM je MSOM menej pamäťovo náročný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714500"/>
            <a:ext cx="8115299" cy="5494560"/>
          </a:xfrm>
          <a:custGeom>
            <a:avLst/>
            <a:gdLst/>
            <a:ahLst/>
            <a:cxnLst/>
            <a:rect l="l" t="t" r="r" b="b"/>
            <a:pathLst>
              <a:path w="7274130" h="4749984">
                <a:moveTo>
                  <a:pt x="0" y="0"/>
                </a:moveTo>
                <a:lnTo>
                  <a:pt x="7274130" y="0"/>
                </a:lnTo>
                <a:lnTo>
                  <a:pt x="7274130" y="4749984"/>
                </a:lnTo>
                <a:lnTo>
                  <a:pt x="0" y="47499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9"/>
              <p:cNvSpPr txBox="1"/>
              <p:nvPr/>
            </p:nvSpPr>
            <p:spPr>
              <a:xfrm>
                <a:off x="8679581" y="1391586"/>
                <a:ext cx="8236819" cy="761362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4200"/>
                  </a:lnSpc>
                </a:pP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Ako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funguje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:</a:t>
                </a: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Nájdenie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víťaza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: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porovnáme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vstupné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váhy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s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novou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vzorkou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;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kontextové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váhy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s merge contextomy</a:t>
                </a:r>
                <a:endParaRPr lang="sk-SK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)=(1−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∥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)−</m:t>
                          </m:r>
                          <m:sSubSup>
                            <m:sSubSup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𝑖𝑛𝑝</m:t>
                              </m:r>
                            </m:sup>
                          </m:sSub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​(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)∥</m:t>
                          </m:r>
                        </m:e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∥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)−</m:t>
                          </m:r>
                          <m:sSubSup>
                            <m:sSubSup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sk-SK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𝑐𝑡𝑥</m:t>
                              </m:r>
                            </m:sup>
                          </m:sSub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​(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)∥</m:t>
                          </m:r>
                        </m:e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Aktualizácia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: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vstupné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váhy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smerom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k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novej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vzorke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,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kontextové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smerom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k merge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kontextu</a:t>
                </a:r>
                <a:endParaRPr lang="sk-SK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𝛥</m:t>
                      </m:r>
                      <m:sSubSup>
                        <m:sSub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𝑖𝑛𝑝</m:t>
                          </m:r>
                        </m:sup>
                      </m:sSub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​=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​⋅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𝐵𝑀𝑈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)⋅(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)−</m:t>
                      </m:r>
                      <m:sSubSup>
                        <m:sSub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𝑖𝑛𝑝</m:t>
                          </m:r>
                        </m:sup>
                      </m:sSub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n-US" sz="2400" kern="100" dirty="0">
                  <a:effectLst/>
                  <a:latin typeface="เอฟซี ซับเจค คอนเดนซ์​" charset="-34"/>
                  <a:ea typeface="Aptos" panose="020B0004020202020204" pitchFamily="34" charset="0"/>
                  <a:cs typeface="เอฟซี ซับเจค คอนเดนซ์​" charset="-34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𝛥</m:t>
                      </m:r>
                      <m:sSubSup>
                        <m:sSub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𝑐𝑡𝑥</m:t>
                          </m:r>
                        </m:sup>
                      </m:sSub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​=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​⋅</m:t>
                      </m:r>
                      <m:sSub>
                        <m:sSub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</m:sSub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𝐵𝑀𝑈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)⋅(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)−</m:t>
                      </m:r>
                      <m:sSubSup>
                        <m:sSub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𝑐𝑡𝑥</m:t>
                          </m:r>
                        </m:sup>
                      </m:sSub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647700" lvl="1" indent="-323850" algn="l">
                  <a:lnSpc>
                    <a:spcPts val="4200"/>
                  </a:lnSpc>
                  <a:buFont typeface="Arial"/>
                  <a:buChar char="•"/>
                </a:pP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Vytvorenie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merge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kontextu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-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zlúčenie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vstupného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prototypu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posledného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víťaza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a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jeho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</a:t>
                </a:r>
                <a:r>
                  <a:rPr lang="en-US" sz="2400" dirty="0" err="1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kontextový</a:t>
                </a:r>
                <a:r>
                  <a:rPr lang="en-US" sz="2400" dirty="0">
                    <a:solidFill>
                      <a:srgbClr val="414964"/>
                    </a:solidFill>
                    <a:latin typeface="เอฟซี ซับเจค คอนเดนซ์​" charset="-34"/>
                    <a:ea typeface="เอฟซี ซับเจค คอนเดนซ์​"/>
                    <a:cs typeface="เอฟซี ซับเจค คอนเดนซ์​" charset="-34"/>
                    <a:sym typeface="เอฟซี ซับเจค คอนเดนซ์​"/>
                  </a:rPr>
                  <a:t> prototype</a:t>
                </a:r>
                <a:endParaRPr lang="sk-SK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marL="323850" lvl="1">
                  <a:lnSpc>
                    <a:spcPts val="4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)=(1−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sk-SK" sz="24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𝑖𝑛𝑝</m:t>
                          </m:r>
                        </m:sup>
                      </m:s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−1)+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sk-SK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𝑐𝑡𝑥</m:t>
                          </m:r>
                        </m:sup>
                      </m:sSup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sk-SK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−1)</m:t>
                      </m:r>
                    </m:oMath>
                  </m:oMathPara>
                </a14:m>
                <a:endParaRPr lang="en-US" sz="2400" kern="100" dirty="0">
                  <a:effectLst/>
                  <a:latin typeface="เอฟซี ซับเจค คอนเดนซ์​" charset="-34"/>
                  <a:ea typeface="Aptos" panose="020B0004020202020204" pitchFamily="34" charset="0"/>
                  <a:cs typeface="เอฟซี ซับเจค คอนเดนซ์​" charset="-34"/>
                </a:endParaRPr>
              </a:p>
              <a:p>
                <a:pPr marL="323850" lvl="1" algn="l">
                  <a:lnSpc>
                    <a:spcPts val="4200"/>
                  </a:lnSpc>
                </a:pPr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algn="l">
                  <a:lnSpc>
                    <a:spcPts val="4200"/>
                  </a:lnSpc>
                </a:pPr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  <a:p>
                <a:pPr algn="l">
                  <a:lnSpc>
                    <a:spcPts val="5424"/>
                  </a:lnSpc>
                </a:pPr>
                <a:endParaRPr lang="en-US" sz="2400" dirty="0">
                  <a:solidFill>
                    <a:srgbClr val="414964"/>
                  </a:solidFill>
                  <a:latin typeface="เอฟซี ซับเจค คอนเดนซ์​" charset="-34"/>
                  <a:ea typeface="เอฟซี ซับเจค คอนเดนซ์​"/>
                  <a:cs typeface="เอฟซี ซับเจค คอนเดนซ์​" charset="-34"/>
                  <a:sym typeface="เอฟซี ซับเจค คอนเดนซ์​"/>
                </a:endParaRPr>
              </a:p>
            </p:txBody>
          </p:sp>
        </mc:Choice>
        <mc:Fallback xmlns="">
          <p:sp>
            <p:nvSpPr>
              <p:cNvPr id="9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9581" y="1391586"/>
                <a:ext cx="8236819" cy="7613623"/>
              </a:xfrm>
              <a:prstGeom prst="rect">
                <a:avLst/>
              </a:prstGeom>
              <a:blipFill>
                <a:blip r:embed="rId8"/>
                <a:stretch>
                  <a:fillRect l="-2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10"/>
          <p:cNvSpPr txBox="1"/>
          <p:nvPr/>
        </p:nvSpPr>
        <p:spPr>
          <a:xfrm>
            <a:off x="1477307" y="7390503"/>
            <a:ext cx="15333385" cy="2004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Využitie:</a:t>
            </a:r>
          </a:p>
          <a:p>
            <a:pPr marL="647711" lvl="1" indent="-323856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MSOM je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efektívny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pri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sekvenčnom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učení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s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nižšími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výpočtovými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nákladmi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ako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RSOM,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čo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ho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robí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vhodným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pre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aplikácie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v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reálnom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 </a:t>
            </a:r>
            <a:r>
              <a:rPr lang="en-US" sz="2400" dirty="0" err="1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čase</a:t>
            </a:r>
            <a:r>
              <a:rPr lang="en-US" sz="2400" dirty="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2400" dirty="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84545" y="1538314"/>
            <a:ext cx="1211890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5499" b="1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IMPLEMENTÁCIA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3607" y="2422719"/>
            <a:ext cx="14360785" cy="539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Implementované modely: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SOM: 2D mriežka s rôznymi metódami inicializácie váh, metrikami mriežky a susedskými funkciami.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RecSOM: Pridaná kontextová vrstva, nové výpočty BMU a aktualizácia váh.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MSOM: Zlúčenie vstupných a kontextových váh posledného víťaza – menej pamäťovo náročné.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Testovanie a Vizualizácia: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Sledovanie kvantizačnej chyby (QE) po epochách.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Mapa členstva do tried – vizualizácia tried neurónov.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Atribútové heatmapy a U-matice – identifikácia zhlukov a vzorov.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98499" y="1815405"/>
            <a:ext cx="7023295" cy="6656190"/>
          </a:xfrm>
          <a:custGeom>
            <a:avLst/>
            <a:gdLst/>
            <a:ahLst/>
            <a:cxnLst/>
            <a:rect l="l" t="t" r="r" b="b"/>
            <a:pathLst>
              <a:path w="7023295" h="6656190">
                <a:moveTo>
                  <a:pt x="0" y="0"/>
                </a:moveTo>
                <a:lnTo>
                  <a:pt x="7023295" y="0"/>
                </a:lnTo>
                <a:lnTo>
                  <a:pt x="7023295" y="6656190"/>
                </a:lnTo>
                <a:lnTo>
                  <a:pt x="0" y="66561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621794" y="2157352"/>
            <a:ext cx="7981283" cy="5972296"/>
          </a:xfrm>
          <a:custGeom>
            <a:avLst/>
            <a:gdLst/>
            <a:ahLst/>
            <a:cxnLst/>
            <a:rect l="l" t="t" r="r" b="b"/>
            <a:pathLst>
              <a:path w="7981283" h="5972296">
                <a:moveTo>
                  <a:pt x="0" y="0"/>
                </a:moveTo>
                <a:lnTo>
                  <a:pt x="7981283" y="0"/>
                </a:lnTo>
                <a:lnTo>
                  <a:pt x="7981283" y="5972296"/>
                </a:lnTo>
                <a:lnTo>
                  <a:pt x="0" y="5972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84545" y="1538314"/>
            <a:ext cx="1211890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5499" b="1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ĎALŠIE KROKY A PLÁNOVANÝ VÝVOJA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3607" y="2283496"/>
            <a:ext cx="14360785" cy="752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Dokončenie RSOM a MSOM: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Výber nových metrík: context-mismatch error (RecSOM), merge-consistency (MSOM)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Vizualizácia kontextu a časových vzorov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Experimenty a logovanie: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Automatizácia behov nad rôznymi seedmi a parametrami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Ukladanie výsledkov cez pickle (hyperparametre, krivky chýb, histórie)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Škálovanie a optimalizácia: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Testovanie na väčších datasetoch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CuPy/Numba: GPU akcelerácia a zrýchlenie tréningu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Interaktívne vizualizácie: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Kontextová evolúcia, hit-mapy, timeline diagramy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Prieskum alternatívnych sekvenčných modelov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84545" y="1538314"/>
            <a:ext cx="12118909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5499" b="1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DLHODOBÉ PLÁNY A INTEGRÁCIA DO ROBOTIKY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3607" y="3202124"/>
            <a:ext cx="14360785" cy="500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Rekonštrukcia sekvencií:</a:t>
            </a:r>
          </a:p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Využitie kontextových váh RecSOM na regeneráciu vstupných sekvencií.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Experimenty s nepretržitým učením:</a:t>
            </a:r>
          </a:p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Design lifelong-learning protokolov na meranie katastrofického zabúdania.</a:t>
            </a:r>
          </a:p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Definovanie metrík: retencia, context-error curves.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Integrácia do kognitívnej robotiky:</a:t>
            </a:r>
          </a:p>
          <a:p>
            <a:pPr marL="755647" lvl="1" indent="-377824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14964"/>
                </a:solidFill>
                <a:latin typeface="เอฟซี ซับเจค คอนเดนซ์​"/>
                <a:ea typeface="เอฟซี ซับเจค คอนเดนซ์​"/>
                <a:cs typeface="เอฟซี ซับเจค คอนเดนซ์​"/>
                <a:sym typeface="เอฟซี ซับเจค คอนเดนซ์​"/>
              </a:rPr>
              <a:t>Pipeline návrh: senzor robota → SOM model → spätná väzba kontroléru.</a:t>
            </a:r>
          </a:p>
          <a:p>
            <a:pPr algn="just">
              <a:lnSpc>
                <a:spcPts val="4899"/>
              </a:lnSpc>
            </a:pPr>
            <a:endParaRPr lang="en-US" sz="3499">
              <a:solidFill>
                <a:srgbClr val="414964"/>
              </a:solidFill>
              <a:latin typeface="เอฟซี ซับเจค คอนเดนซ์​"/>
              <a:ea typeface="เอฟซี ซับเจค คอนเดนซ์​"/>
              <a:cs typeface="เอฟซี ซับเจค คอนเดนซ์​"/>
              <a:sym typeface="เอฟซี ซับเจค คอนเดนซ์​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3322" y="-1337498"/>
            <a:ext cx="4312529" cy="8656535"/>
          </a:xfrm>
          <a:custGeom>
            <a:avLst/>
            <a:gdLst/>
            <a:ahLst/>
            <a:cxnLst/>
            <a:rect l="l" t="t" r="r" b="b"/>
            <a:pathLst>
              <a:path w="4312529" h="8656535">
                <a:moveTo>
                  <a:pt x="0" y="0"/>
                </a:moveTo>
                <a:lnTo>
                  <a:pt x="4312528" y="0"/>
                </a:lnTo>
                <a:lnTo>
                  <a:pt x="4312528" y="8656536"/>
                </a:lnTo>
                <a:lnTo>
                  <a:pt x="0" y="8656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44380" y="3658085"/>
            <a:ext cx="3514515" cy="7321906"/>
          </a:xfrm>
          <a:custGeom>
            <a:avLst/>
            <a:gdLst/>
            <a:ahLst/>
            <a:cxnLst/>
            <a:rect l="l" t="t" r="r" b="b"/>
            <a:pathLst>
              <a:path w="3514515" h="7321906">
                <a:moveTo>
                  <a:pt x="0" y="0"/>
                </a:moveTo>
                <a:lnTo>
                  <a:pt x="3514515" y="0"/>
                </a:lnTo>
                <a:lnTo>
                  <a:pt x="3514515" y="7321906"/>
                </a:lnTo>
                <a:lnTo>
                  <a:pt x="0" y="7321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7319038"/>
            <a:ext cx="16230600" cy="2820067"/>
          </a:xfrm>
          <a:custGeom>
            <a:avLst/>
            <a:gdLst/>
            <a:ahLst/>
            <a:cxnLst/>
            <a:rect l="l" t="t" r="r" b="b"/>
            <a:pathLst>
              <a:path w="16230600" h="2820067">
                <a:moveTo>
                  <a:pt x="0" y="0"/>
                </a:moveTo>
                <a:lnTo>
                  <a:pt x="16230600" y="0"/>
                </a:lnTo>
                <a:lnTo>
                  <a:pt x="16230600" y="2820066"/>
                </a:lnTo>
                <a:lnTo>
                  <a:pt x="0" y="28200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41496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64781" y="3403600"/>
            <a:ext cx="14158438" cy="2851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10999" b="1">
                <a:solidFill>
                  <a:srgbClr val="414964"/>
                </a:solidFill>
                <a:latin typeface="Serithai Bold"/>
                <a:ea typeface="Serithai Bold"/>
                <a:cs typeface="Serithai Bold"/>
                <a:sym typeface="Serithai Bold"/>
              </a:rPr>
              <a:t>ĎAKUJEM ZA POZORNOSŤ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930</Words>
  <Application>Microsoft Office PowerPoint</Application>
  <PresentationFormat>Custom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Cambria Math</vt:lpstr>
      <vt:lpstr>เอฟซี ซับเจค คอนเดนซ์​</vt:lpstr>
      <vt:lpstr>Arial</vt:lpstr>
      <vt:lpstr>Serithai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Univerzita Komenského</dc:title>
  <cp:lastModifiedBy>Ema Adamova</cp:lastModifiedBy>
  <cp:revision>5</cp:revision>
  <dcterms:created xsi:type="dcterms:W3CDTF">2006-08-16T00:00:00Z</dcterms:created>
  <dcterms:modified xsi:type="dcterms:W3CDTF">2025-05-15T22:01:40Z</dcterms:modified>
  <dc:identifier>DAGnVEZLe8o</dc:identifier>
</cp:coreProperties>
</file>